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Revenue (£)</c:v>
                </c:pt>
              </c:strCache>
            </c:strRef>
          </c:tx>
          <c:spPr>
            <a:solidFill>
              <a:srgbClr val="1665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3B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Phase 2
(Mid 2026)</c:v>
                  </c:pt>
                  <c:pt idx="1">
                    <c:v>Phase 3
(Late 2026)</c:v>
                  </c:pt>
                  <c:pt idx="2">
                    <c:v>Phase 4
(2027)</c:v>
                  </c:pt>
                  <c:pt idx="3">
                    <c:v>Mature
(2028+)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4500</c:v>
                </c:pt>
                <c:pt idx="1">
                  <c:v>23460</c:v>
                </c:pt>
                <c:pt idx="2">
                  <c:v>91200</c:v>
                </c:pt>
                <c:pt idx="3">
                  <c:v>237600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D3B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532D"/>
              </a:solidFill>
              <a:effectLst/>
            </c:spPr>
          </c:dPt>
          <c:dPt>
            <c:idx val="1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bubble3D val="0"/>
            <c:spPr>
              <a:solidFill>
                <a:srgbClr val="B8860B"/>
              </a:solidFill>
              <a:effectLst/>
            </c:spPr>
          </c:dPt>
          <c:dPt>
            <c:idx val="3"/>
            <c:bubble3D val="0"/>
            <c:spPr>
              <a:solidFill>
                <a:srgbClr val="E5C76B"/>
              </a:solidFill>
              <a:effectLst/>
            </c:spPr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Premium Subscriptions</c:v>
                </c:pt>
                <c:pt idx="1">
                  <c:v>Lead Generation</c:v>
                </c:pt>
                <c:pt idx="2">
                  <c:v>Sponsored Content</c:v>
                </c:pt>
                <c:pt idx="3">
                  <c:v>Events &amp; Conferences</c:v>
                </c:pt>
                <c:pt idx="4">
                  <c:v>Data &amp; API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45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532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C7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askadil.org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Solicitor Directory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UK's first searchable directory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Muslim &amp; Islamic-specialist solicitors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Educate First, Litigate Second.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initiative in association with the Muslim Council of Britain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0" y="4480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000" dirty="0"/>
          </a:p>
        </p:txBody>
      </p:sp>
      <p:pic>
        <p:nvPicPr>
          <p:cNvPr id="10" name="Image 0" descr="E:\dev\mcbx\adil\adil-landing\images\hero-concept-1-workplace.jpe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5669280" y="731520"/>
            <a:ext cx="3108960" cy="2103120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public, searchable Muslim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lawyer directory exists in the UK.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94560"/>
            <a:ext cx="2468880" cy="4572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sites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muslimlawyer.co.uk &amp; muslimsolicitors.co.uk are the same entity — no named lawyers, no updates since 2019.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219456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2194560"/>
            <a:ext cx="2468880" cy="4572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directories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28346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AML, MLAG, and Muslim Lawyers' Hub are networks for lawyers, not directories for the public.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19456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2194560"/>
            <a:ext cx="2468880" cy="4572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platforms fail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28346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SolicitorConnect claims 500+ specialists but only 11 firms are visible. Enquiry-based, not browsable.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~12,000 Muslim solicitors practise in England &amp; Wales (6% of profession) — but the public has no way to find them.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3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first-mover advantage in an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unserved market.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874520" cy="1828800"/>
          </a:xfrm>
          <a:prstGeom prst="rect">
            <a:avLst/>
          </a:prstGeom>
          <a:solidFill>
            <a:srgbClr val="14532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945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C7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~12,000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solicitors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England &amp; Wales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2011680"/>
            <a:ext cx="1874520" cy="1828800"/>
          </a:xfrm>
          <a:prstGeom prst="rect">
            <a:avLst/>
          </a:prstGeom>
          <a:solidFill>
            <a:srgbClr val="14532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0" y="21945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C7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43200" y="29260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Barristers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self-identified as Muslim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011680"/>
            <a:ext cx="1874520" cy="1828800"/>
          </a:xfrm>
          <a:prstGeom prst="rect">
            <a:avLst/>
          </a:prstGeom>
          <a:solidFill>
            <a:srgbClr val="14532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21945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C7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46320" y="29260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searchable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2011680"/>
            <a:ext cx="1874520" cy="1828800"/>
          </a:xfrm>
          <a:prstGeom prst="rect">
            <a:avLst/>
          </a:prstGeom>
          <a:solidFill>
            <a:srgbClr val="14532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21945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C7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1st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49440" y="29260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AskAdil would be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of its kind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Law Society diversity data, Bar Council, CILEX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AUDIT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audited every Muslim lawyer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in the UK.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863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1920240"/>
                <a:gridCol w="19202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Lawyers?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Muslim Lawyer UK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 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Dormant (2019)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SolicitorConnect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firms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Early-stage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AML / MLAG / 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networks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public directory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(networking)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Duncan Lewis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 firm dept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(may have left)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outdated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(limited)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The market is wide open. No competitor offers what AskAdil can build.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DIRECTORY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 firms with verified contact details.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508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1508760" cy="4572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Family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/ Divorce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48840" y="1645920"/>
            <a:ext cx="1508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48840" y="1645920"/>
            <a:ext cx="1508760" cy="4572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0" name="Text 8"/>
          <p:cNvSpPr/>
          <p:nvPr/>
        </p:nvSpPr>
        <p:spPr>
          <a:xfrm>
            <a:off x="2148840" y="18288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65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148840" y="24688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Wills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1645920"/>
            <a:ext cx="1508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0" y="1645920"/>
            <a:ext cx="150876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18288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840480" y="24688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Finance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Conveyancing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32120" y="1645920"/>
            <a:ext cx="1508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32120" y="1645920"/>
            <a:ext cx="1508760" cy="4572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18288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532120" y="24688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23760" y="1645920"/>
            <a:ext cx="1508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23760" y="1645920"/>
            <a:ext cx="150876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18288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223760" y="24688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Law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firms for outreach: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Solicitors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(Islamic Wills leader)  |  </a:t>
            </a:r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Aramas Family Law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(Chambers-ranked)  |  </a:t>
            </a:r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Horse Solicitors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(Islamic Finance)  |  </a:t>
            </a:r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Kuddus Solicitors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(All HPP panels)  |  </a:t>
            </a:r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Rahman Lowe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(Legal 500, discrimination)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COVERAGE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Firms across every major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Muslim population centre.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371600" cy="36576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920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firms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9202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Ascentim, White Horse, Kuddus, Duncan Lewis, Farani Taylor, Rahman Lowe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371600" cy="36576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Birmingham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2423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firms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24231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Solicitors, Aman, Touchwood, Witan, Duncan Lewis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1371600" cy="36576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2926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firms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926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Aramas, MWG, O'Donnell, ASL, Myerson, Reeds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1371600" cy="36576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29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Yorkshire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3429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firms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34290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Batley Law, Makin Dixon (10 offices), YHM, Slater Heelis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1371600" cy="36576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Lancashire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94560" y="3931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firms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0" y="3931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Blakewater (Blackburn), Curtis Law, AFG Law (Bolton)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434840"/>
            <a:ext cx="1371600" cy="36576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434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94560" y="44348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firms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17520" y="44348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Stowe, Irwin Mitchell, Reeds (22 offices), Taylor Rose, I Will</a:t>
            </a:r>
            <a:endParaRPr lang="en-US" sz="1000" dirty="0"/>
          </a:p>
        </p:txBody>
      </p:sp>
      <p:pic>
        <p:nvPicPr>
          <p:cNvPr id="28" name="Image 0" descr="E:\dev\mcbx\adil\adil-landing\images\hero-concept-2-community.jpe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6400800" y="457200"/>
            <a:ext cx="2377440" cy="1371600"/>
          </a:xfrm>
          <a:prstGeom prst="ellipse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3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532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ISLAMOPHOBIA SUPPORT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Dedicated resources for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anti-Muslim discrimination.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51760" cy="2377440"/>
          </a:xfrm>
          <a:prstGeom prst="rect">
            <a:avLst/>
          </a:prstGeom>
          <a:solidFill>
            <a:srgbClr val="14532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Contact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MAMA: 0800 456 1226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IRU: 020 3904 6555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Safety Net: 0303 330 0288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651760" cy="2377440"/>
          </a:xfrm>
          <a:prstGeom prst="rect">
            <a:avLst/>
          </a:prstGeom>
          <a:solidFill>
            <a:srgbClr val="14532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Solicitors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3774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Bindmans LLP (Prevent, hijab)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Rahman Lowe (Legal 500)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Kesar &amp; Co (Legal Aid)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Mishcon de Reya (Tell MAMA lawyers)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651760" cy="2377440"/>
          </a:xfrm>
          <a:prstGeom prst="rect">
            <a:avLst/>
          </a:prstGeom>
          <a:solidFill>
            <a:srgbClr val="14532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Barristers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23774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Karon Monaghan KC (Matrix)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Imran Khan KC (Nexus)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Schona Jolly KC (Matrix)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434840"/>
            <a:ext cx="9144000" cy="4572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377% surge in Islamophobia incidents (2023-24)  |  45% of all religious hate crimes target Muslims  |  Avg tribunal settlement: £43,234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PATHWAYS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Matching victims to the right support.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06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2606040" cy="4572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Crime / Attack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MAMA + Police + Saunders Law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645920"/>
            <a:ext cx="2606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645920"/>
            <a:ext cx="2606040" cy="4572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Discrimination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3320" y="2148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IRU + ACAS + Landau Law (no-win-no-fee)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645920"/>
            <a:ext cx="2606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645920"/>
            <a:ext cx="2606040" cy="4572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/ Hijab Issue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2148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IRU + Mishcon de Reya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2606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00400"/>
            <a:ext cx="2606040" cy="4572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337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Discrimination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3703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 + Hodge Jones &amp; Allen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200400"/>
            <a:ext cx="2606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200400"/>
            <a:ext cx="2606040" cy="4572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3337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/ State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290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03320" y="3703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Bhatt Murphy + DPG Law + EHRC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3200400"/>
            <a:ext cx="2606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200400"/>
            <a:ext cx="2606040" cy="4572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337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/ Counter-terror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6364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37960" y="3703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CAGE + Bindmans + IHRC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3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referral through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AskAdil chatbot.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192024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need help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divorce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Manchester"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2148840"/>
            <a:ext cx="27432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92024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5176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AskAdil matches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51760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Specialism + Location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Language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Availability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148840"/>
            <a:ext cx="27432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0680" y="192024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54406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4632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2-3 matched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solicitors with contact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&amp; context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2148840"/>
            <a:ext cx="27432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35240" y="192024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4088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referral quality,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feedback,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matching</a:t>
            </a:r>
            <a:endParaRPr lang="en-US" sz="1100" dirty="0"/>
          </a:p>
        </p:txBody>
      </p:sp>
      <p:pic>
        <p:nvPicPr>
          <p:cNvPr id="23" name="Image 0" descr="E:\dev\mcbx\adil\adil-landing\images\hero-concept-3-phone.jpe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217920" y="365760"/>
            <a:ext cx="2560320" cy="1463040"/>
          </a:xfrm>
          <a:prstGeom prst="ellipse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phases to a comprehensive platform.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8638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664208"/>
            <a:ext cx="237744" cy="23774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10312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03120"/>
            <a:ext cx="192024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Referral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0175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38 firms in RAG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Chat-based referrals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 copy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1664208"/>
            <a:ext cx="237744" cy="237744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0" y="210312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2103120"/>
            <a:ext cx="1920240" cy="4572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Apr-Jun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9748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&amp; Consent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97480" y="30175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priority firms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details &amp; consent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AML/MLAG/Hub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40680" y="1664208"/>
            <a:ext cx="237744" cy="237744"/>
          </a:xfrm>
          <a:prstGeom prst="ellipse">
            <a:avLst/>
          </a:prstGeom>
          <a:solidFill>
            <a:srgbClr val="14532D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210312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103120"/>
            <a:ext cx="1920240" cy="4572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Jun-Sep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Self-Registration &amp; SRA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30175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"List your practice" portal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 API integration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Name-matching outreach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543800" y="1664208"/>
            <a:ext cx="237744" cy="237744"/>
          </a:xfrm>
          <a:prstGeom prst="ellipse">
            <a:avLst/>
          </a:prstGeom>
          <a:solidFill>
            <a:srgbClr val="0D3B1E"/>
          </a:solidFill>
          <a:ln/>
        </p:spPr>
      </p:sp>
      <p:sp>
        <p:nvSpPr>
          <p:cNvPr id="27" name="Shape 25"/>
          <p:cNvSpPr/>
          <p:nvPr/>
        </p:nvSpPr>
        <p:spPr>
          <a:xfrm>
            <a:off x="6766560" y="210312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66560" y="2103120"/>
            <a:ext cx="1920240" cy="45720"/>
          </a:xfrm>
          <a:prstGeom prst="rect">
            <a:avLst/>
          </a:prstGeom>
          <a:solidFill>
            <a:srgbClr val="0D3B1E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3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8096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2026+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0372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03720" y="30175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 UI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ratings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Barristers extension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Freemium directory with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revenue streams.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657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3657600" cy="4572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listing (name, address, phone)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areas shown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firm website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chat referrals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placement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920240"/>
            <a:ext cx="3657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920240"/>
            <a:ext cx="3657600" cy="4572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 £49-149/mo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25603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profile (photo, bio, cases)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"Featured" placement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enquiry form (leads to email)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(views, clicks)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"MCB Verified" trust badge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management tools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PROJECTIONS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 growth to £237K annual revenue.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55448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792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17920" y="210312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paid conversion at maturity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listed firms (of ~12K Muslim solicitors)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£99/mo average premium fee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only (excl. lead gen, events, data)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addressable: £350K/yr with all streams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 AT MATURITY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Target: £250-350K annual revenue (2028+)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0" y="1554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Subscriptions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0" y="1810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~£113K  —  £49-149/mo enhanced profiles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0" y="2194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0" y="2450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~£63K  —  £5-25 per qualified enquiry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0" y="2834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66928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Content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69280" y="3090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~£38K  —  Articles, newsletters, guides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0" y="3474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66928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69280" y="3730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~£25K  —  Webinars, roadshows, conference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0" y="4114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66928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API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669280" y="4370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~£13K  —  Market reports, API licensing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3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solicitors will pay to be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AskAdil.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06040" cy="123444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Audience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3774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directory specifically serving British Muslims via AI chatbot. No competitor exists.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920240"/>
            <a:ext cx="2606040" cy="123444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Pre-qualified Leads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29000" y="23774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have already described their legal issue. Firms get warm, contextual enquiries — not cold clicks.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2606040" cy="123444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MCB Trust Signal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23774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with the Muslim Council of Britain provides credibility no generic directory can match.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2606040" cy="123444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Reach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840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MCB's network of 500+ affiliated mosques and community organisations.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3383280"/>
            <a:ext cx="2606040" cy="123444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Cheaper than Google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3840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cost £5-15 per click (£500-1,500/mo). AskAdil Premium is £99/mo for unlimited visibility.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3383280"/>
            <a:ext cx="2606040" cy="123444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Market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3840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solicitors grew from 5% to 6% of profession. Community demand for culturally-aware legal help is rising.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 COMPLIANCE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framework ensures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from day one.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657600" cy="25603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for enhanced profiles / advertising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per lead (non-PI areas)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for sponsored content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for events / sponsorship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require: written agreements + client disclosure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920240"/>
            <a:ext cx="3657600" cy="25603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242316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fees for personal injury (LASPO ban)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influencing chat recommendations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Unlabelled sponsored content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Undisclosed commercial arrangements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independence: AskAdil chat recommends based on best-fit (specialism, location, language) — never payment status.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channels to scale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38 to 1,000+ firms.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06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828800"/>
            <a:ext cx="2606040" cy="36576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938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 API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48840" y="19385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200K+ solicitors by name/location.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against Muslim surnames.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to opt in.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606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828800"/>
            <a:ext cx="2606040" cy="36576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938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MCB Network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9385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2286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affiliated mosques.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recommendations.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introductions.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606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828800"/>
            <a:ext cx="2606040" cy="36576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938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Self-Registration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18120" y="19385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63640" y="2286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"List your practice" portal.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via AML, MLAG, Hub.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Lawyers opt in directly.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2606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37560"/>
            <a:ext cx="2606040" cy="3657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4472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Mining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48840" y="34472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3794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AML/MLAG followers.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self-identified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legal professionals.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337560"/>
            <a:ext cx="2606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337560"/>
            <a:ext cx="2606040" cy="3657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34472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Banks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34472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29000" y="3794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Rayan, Gatehouse etc.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solicitor panels.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Pre-vetted for competence.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337560"/>
            <a:ext cx="2606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337560"/>
            <a:ext cx="2606040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4472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Society FOI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818120" y="34472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3794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diversity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religion + practice area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region. Market sizing.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3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research to referrals.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20040" cy="3200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7373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38-firm directory into AskAdil's RAG knowledge base for immediate chat referrals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320040" cy="3200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2860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outreach to Tier A firms — I Will Solicitors, Aramas, White Horse, Kuddus, Rahman Lowe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320040" cy="3200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8346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AML, MLAG, and Muslim Lawyers' Hub as distribution partners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320040" cy="3200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383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for SRA API access and prototype name-matching pipeline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320040" cy="3200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9319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MCB board discussion: governance model for commercial directory operations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C7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askadil.org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initiative in association with the Muslim Council of Britain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AskAdil Solicitor Directory - Pitch Deck</dc:title>
  <dc:subject>PptxGenJS Presentation</dc:subject>
  <dc:creator>AskAdil / MCB</dc:creator>
  <cp:lastModifiedBy>AskAdil / MCB</cp:lastModifiedBy>
  <cp:revision>1</cp:revision>
  <dcterms:created xsi:type="dcterms:W3CDTF">2026-03-26T06:58:01Z</dcterms:created>
  <dcterms:modified xsi:type="dcterms:W3CDTF">2026-03-26T06:58:01Z</dcterms:modified>
</cp:coreProperties>
</file>